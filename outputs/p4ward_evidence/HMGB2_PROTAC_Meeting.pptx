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Did HMGB2 PROTACs Fail?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Target biology vs. PROTAC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864"/>
                </a:solidFill>
                <a:latin typeface="Calibri"/>
              </a:defRPr>
            </a:pPr>
            <a:r>
              <a:t>HMGB2 — The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Nuclear chromatin-binding protein (Box A + Box B domains)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209 amino acids, 24 kDa, pI ~9.5 (highly basic)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20+ surface-accessible lysines — favorable for ubiquitination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Long, flexible, acidic C-terminal tail (186–209 aa)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Rapid dynamic exchange on/off chromatin (FRAP t½ ~seconds)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Involved in: inflammation, cancer, chromatin remodeling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Unregulated in multiple cancers (prognostic marker)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864"/>
                </a:solidFill>
                <a:latin typeface="Calibri"/>
              </a:defRPr>
            </a:pPr>
            <a:r>
              <a:t>The PROTAC Design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Warhead: Inflachromene (ICM) — known HMGB1/2 binder (Lee et al., 2014)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E3 ligases: VHL (AHPC) and CRBN (Thalidomide)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Linkers: C4, C6, C8 alkyl (3 lengths × 2 E3 = 6 PROTACs)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RESULT: All 6 PROTACs showed NO degradation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Core questions: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1. Is the ternary complex geometrically possible?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2. Is HMGB2 intrinsically non-degradable?</a:t>
            </a:r>
          </a:p>
          <a:p>
            <a:pPr>
              <a:spcAft>
                <a:spcPts val="3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3. Which design parameter caused the failure?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5029200"/>
            <a:ext cx="4937760" cy="914400"/>
          </a:xfrm>
          <a:prstGeom prst="rect">
            <a:avLst/>
          </a:prstGeom>
          <a:solidFill>
            <a:srgbClr val="FFF2CC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5120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0000"/>
                </a:solidFill>
                <a:latin typeface="Calibri"/>
              </a:defRPr>
            </a:pPr>
            <a:r>
              <a:t>This talk: Systematic computational diagnosis</a:t>
            </a:r>
            <a:br/>
            <a:r>
              <a:t>→ Root cause identified → Rational redesign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Computational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HMGB2 modeling workflow — from structure to redesign</a:t>
            </a:r>
          </a:p>
        </p:txBody>
      </p:sp>
      <p:pic>
        <p:nvPicPr>
          <p:cNvPr id="5" name="Picture 4" descr="plot08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44000" cy="2286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3657600"/>
            <a:ext cx="112471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864"/>
                </a:solidFill>
                <a:latin typeface="Calibri"/>
              </a:defRPr>
            </a:pPr>
            <a:r>
              <a:t>Pipeline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1. HMGB2 + CRBN structure preparation (fix, minimize, protonate)  →  PDB prep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2. MegaDock: 3600 orientations of CRBN around HMGB2  →  exhaustive sampling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3. PROTAC linker distance filter (auto-cutoff: 0.74 Å)  →  checks geometric feasibility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4. Ubiquitination filter (CRBN: 16 Å cutoff)  →  checks lysine-to-E2~Ub distance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5. Vina docking: 12 warheads against HMGB2  →  score + rank alternatives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6. Root-cause diagnosis + redesign proposal  →  next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P4ward Ternary Complex Modeling — Primary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3600 orientations sampled → 0 viable ternary complexes</a:t>
            </a:r>
          </a:p>
        </p:txBody>
      </p:sp>
      <p:pic>
        <p:nvPicPr>
          <p:cNvPr id="5" name="Picture 4" descr="plot01_filtering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188720"/>
            <a:ext cx="576072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0000"/>
                </a:solidFill>
                <a:latin typeface="Calibri"/>
              </a:defRPr>
            </a:pPr>
            <a:r>
              <a:t>KEY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7373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Total MegaDock orientations:   3,600</a:t>
            </a:r>
          </a:p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Passed linker distance filter:         0</a:t>
            </a:r>
          </a:p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Passed ubiquitination filter:          0</a:t>
            </a:r>
          </a:p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Closest exit-vector gap:    10.83 Å</a:t>
            </a:r>
          </a:p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Linker max conformational span:    0.74 Å</a:t>
            </a:r>
          </a:p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Gap vs. linker:                     14.6× too large</a:t>
            </a:r>
          </a:p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Verification: P4ward log entry</a:t>
            </a:r>
          </a:p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"There are no poses which satisfy the</a:t>
            </a:r>
          </a:p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ligand distance filtering criteria.</a:t>
            </a:r>
          </a:p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Exiting now."</a:t>
            </a:r>
          </a:p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Method: Sharma et al., Sci Rep 15:21502, 2025</a:t>
            </a:r>
          </a:p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(PRosettaC/P4ward benchmark — best-in-class</a:t>
            </a:r>
          </a:p>
          <a:p>
            <a:pPr>
              <a:spcAft>
                <a:spcPts val="1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for PROTAC ternary complex prediction)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DEFINITIVE RESULT: The C4-equivalent linker (CCCOCCC, 0.74 Å max span) cannot bridge HMGB2 and CRBN → no ternary complex possible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Closest Failed MegaDock/P4ward Pose (#2615)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Best of 3600 orientations — still no viable ternary complex</a:t>
            </a:r>
          </a:p>
        </p:txBody>
      </p:sp>
      <p:pic>
        <p:nvPicPr>
          <p:cNvPr id="5" name="Picture 4" descr="pymol_pose_2615_labe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C00000"/>
                </a:solidFill>
                <a:latin typeface="Calibri"/>
              </a:defRPr>
            </a:pPr>
            <a:r>
              <a:t>GREEN: HMGB2 (receptor, fixed position)  |  PINK: CRBN (ligase, rotated by MegaDock)</a:t>
            </a:r>
          </a:p>
          <a:p>
            <a:pPr>
              <a:spcAft>
                <a:spcPts val="200"/>
              </a:spcAft>
              <a:defRPr sz="1300">
                <a:solidFill>
                  <a:srgbClr val="C00000"/>
                </a:solidFill>
                <a:latin typeface="Calibri"/>
              </a:defRPr>
            </a:pPr>
            <a:r>
              <a:t>Exit vectors (red spheres on ICM, purple spheres on thalidomide) are still 10.83 Å apart</a:t>
            </a:r>
          </a:p>
          <a:p>
            <a:pPr>
              <a:spcAft>
                <a:spcPts val="200"/>
              </a:spcAft>
              <a:defRPr sz="1300">
                <a:solidFill>
                  <a:srgbClr val="C00000"/>
                </a:solidFill>
                <a:latin typeface="Calibri"/>
              </a:defRPr>
            </a:pPr>
            <a:r>
              <a:t>CCCOCCC linker can span at most 0.74 Å → this orientation cannot form a productive ternary complex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Exit Vector Gap — Zoom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ICM warhead exit vectors vs. thalidomide exit vectors</a:t>
            </a:r>
          </a:p>
        </p:txBody>
      </p:sp>
      <p:pic>
        <p:nvPicPr>
          <p:cNvPr id="5" name="Picture 4" descr="pymol_gap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31520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46720" y="1097280"/>
            <a:ext cx="3657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28016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C00000"/>
                </a:solidFill>
                <a:latin typeface="Calibri"/>
              </a:defRPr>
            </a:pPr>
            <a:r>
              <a:t>GAP MEASUREMENT</a:t>
            </a:r>
          </a:p>
          <a:p>
            <a:pPr>
              <a:spcAft>
                <a:spcPts val="200"/>
              </a:spcAft>
              <a:defRPr sz="1400">
                <a:solidFill>
                  <a:srgbClr val="C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C00000"/>
                </a:solidFill>
                <a:latin typeface="Calibri"/>
              </a:defRPr>
            </a:pPr>
            <a:r>
              <a:t>ICM OH (exit vector 1)</a:t>
            </a:r>
          </a:p>
          <a:p>
            <a:pPr>
              <a:spcAft>
                <a:spcPts val="200"/>
              </a:spcAft>
              <a:defRPr sz="1400">
                <a:solidFill>
                  <a:srgbClr val="C00000"/>
                </a:solidFill>
                <a:latin typeface="Calibri"/>
              </a:defRPr>
            </a:pPr>
            <a:r>
              <a:t>  ↕  10.83 Å</a:t>
            </a:r>
          </a:p>
          <a:p>
            <a:pPr>
              <a:spcAft>
                <a:spcPts val="200"/>
              </a:spcAft>
              <a:defRPr sz="1400">
                <a:solidFill>
                  <a:srgbClr val="C00000"/>
                </a:solidFill>
                <a:latin typeface="Calibri"/>
              </a:defRPr>
            </a:pPr>
            <a:r>
              <a:t>Thalidomide C (exit vec.)</a:t>
            </a:r>
          </a:p>
          <a:p>
            <a:pPr>
              <a:spcAft>
                <a:spcPts val="200"/>
              </a:spcAft>
              <a:defRPr sz="1400">
                <a:solidFill>
                  <a:srgbClr val="C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C00000"/>
                </a:solidFill>
                <a:latin typeface="Calibri"/>
              </a:defRPr>
            </a:pPr>
            <a:r>
              <a:t>vs.</a:t>
            </a:r>
          </a:p>
          <a:p>
            <a:pPr>
              <a:spcAft>
                <a:spcPts val="200"/>
              </a:spcAft>
              <a:defRPr sz="1400">
                <a:solidFill>
                  <a:srgbClr val="C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C00000"/>
                </a:solidFill>
                <a:latin typeface="Calibri"/>
              </a:defRPr>
            </a:pPr>
            <a:r>
              <a:t>Linker max span: 0.74 Å</a:t>
            </a:r>
          </a:p>
          <a:p>
            <a:pPr>
              <a:spcAft>
                <a:spcPts val="200"/>
              </a:spcAft>
              <a:defRPr sz="1400">
                <a:solidFill>
                  <a:srgbClr val="C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C00000"/>
                </a:solidFill>
                <a:latin typeface="Calibri"/>
              </a:defRPr>
            </a:pPr>
            <a:r>
              <a:t>Gap is 14.6× larger</a:t>
            </a:r>
          </a:p>
          <a:p>
            <a:pPr>
              <a:spcAft>
                <a:spcPts val="200"/>
              </a:spcAft>
              <a:defRPr sz="1400">
                <a:solidFill>
                  <a:srgbClr val="C00000"/>
                </a:solidFill>
                <a:latin typeface="Calibri"/>
              </a:defRPr>
            </a:pPr>
            <a:r>
              <a:t>than linker can span</a:t>
            </a:r>
          </a:p>
          <a:p>
            <a:pPr>
              <a:spcAft>
                <a:spcPts val="200"/>
              </a:spcAft>
              <a:defRPr sz="1400">
                <a:solidFill>
                  <a:srgbClr val="C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C00000"/>
                </a:solidFill>
                <a:latin typeface="Calibri"/>
              </a:defRPr>
            </a:pPr>
            <a:r>
              <a:t>→ Geometry impossible</a:t>
            </a:r>
          </a:p>
          <a:p>
            <a:pPr>
              <a:spcAft>
                <a:spcPts val="200"/>
              </a:spcAft>
              <a:defRPr sz="1400">
                <a:solidFill>
                  <a:srgbClr val="C00000"/>
                </a:solidFill>
                <a:latin typeface="Calibri"/>
              </a:defRPr>
            </a:pPr>
            <a:r>
              <a:t>→ All 3600 poses failed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Distance Distribution — All 3600 MegaDock Poses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Exit-vector gaps range from 10.83 Å to 176.04 Å — none pass the filter</a:t>
            </a:r>
          </a:p>
        </p:txBody>
      </p:sp>
      <p:pic>
        <p:nvPicPr>
          <p:cNvPr id="5" name="Picture 4" descr="plot02_distance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315200" cy="4389120"/>
          </a:xfrm>
          <a:prstGeom prst="rect">
            <a:avLst/>
          </a:prstGeom>
        </p:spPr>
      </p:pic>
      <p:pic>
        <p:nvPicPr>
          <p:cNvPr id="6" name="Picture 5" descr="plot09_closest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97280"/>
            <a:ext cx="4114800" cy="2926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0" y="4206240"/>
            <a:ext cx="4114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429768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Gap Range     Count    Outcome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───────────────────────────────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10–20 Å        36      FAILED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20–30 Å        67      FAILED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30–50 Å       315      FAILED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50–100 Å    1,542     FAILED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100–176 Å  1,640     FAILED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───────────────────────────────</a:t>
            </a:r>
          </a:p>
          <a:p>
            <a:pPr>
              <a:spcAft>
                <a:spcPts val="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TOTAL       3,600     0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  <a:latin typeface="Calibri"/>
              </a:defRPr>
            </a:pPr>
            <a:r>
              <a:t>Even the best 36 poses (top 1%) have exit-vector gaps of 10–20 Å — all far beyond the linker's 0.74 Å limit.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Warhead Selection — Vina Docking Screen (12 Warheads vs. HMGB2)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Identifying stronger alternatives to Inflachromene</a:t>
            </a:r>
          </a:p>
        </p:txBody>
      </p:sp>
      <p:pic>
        <p:nvPicPr>
          <p:cNvPr id="5" name="Picture 4" descr="plot04_vina_do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0" y="1097280"/>
            <a:ext cx="45720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1887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864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64592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Hoechst 33258: −6.49 kcal/mol (best)</a:t>
            </a:r>
          </a:p>
          <a:p>
            <a:pPr>
              <a:spcAft>
                <a:spcPts val="1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→ DNA minor groove binder</a:t>
            </a:r>
          </a:p>
          <a:p>
            <a:pPr>
              <a:spcAft>
                <a:spcPts val="1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→ Engages HMGB2's DNA-binding surface</a:t>
            </a:r>
          </a:p>
          <a:p>
            <a:pPr>
              <a:spcAft>
                <a:spcPts val="1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PDS (Pyridostatin): −5.87 kcal/mol</a:t>
            </a:r>
          </a:p>
          <a:p>
            <a:pPr>
              <a:spcAft>
                <a:spcPts val="1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→ G-quadruplex ligand</a:t>
            </a:r>
          </a:p>
          <a:p>
            <a:pPr>
              <a:spcAft>
                <a:spcPts val="1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→ Alternative binding mode</a:t>
            </a:r>
          </a:p>
          <a:p>
            <a:pPr>
              <a:spcAft>
                <a:spcPts val="1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Inflachromene: −5.79 kcal/mol (7th)</a:t>
            </a:r>
          </a:p>
          <a:p>
            <a:pPr>
              <a:spcAft>
                <a:spcPts val="1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→ Only modest affinity</a:t>
            </a:r>
          </a:p>
          <a:p>
            <a:pPr>
              <a:spcAft>
                <a:spcPts val="1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  → Binding site not resolved structurally</a:t>
            </a:r>
          </a:p>
          <a:p>
            <a:pPr>
              <a:spcAft>
                <a:spcPts val="100"/>
              </a:spcAft>
              <a:defRPr sz="1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RECOMMENDATION:</a:t>
            </a:r>
          </a:p>
          <a:p>
            <a:pPr>
              <a:spcAft>
                <a:spcPts val="1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Replace ICM with Hoechst 33258 or PDS</a:t>
            </a:r>
          </a:p>
          <a:p>
            <a:pPr>
              <a:spcAft>
                <a:spcPts val="1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for stronger, validated HMGB2 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E3 Ligase Selection — VHL vs. CRBN for a Nuclear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Subcellular localization determines E3 accessibility to HMGB2</a:t>
            </a:r>
          </a:p>
        </p:txBody>
      </p:sp>
      <p:pic>
        <p:nvPicPr>
          <p:cNvPr id="5" name="Picture 4" descr="plot06_e3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0" y="1188720"/>
            <a:ext cx="39319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864"/>
                </a:solidFill>
                <a:latin typeface="Calibri"/>
              </a:defRPr>
            </a:pPr>
            <a:r>
              <a:t>Decision for HMGB2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73736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HMGB2 is NUCLEAR (chromatin-bound)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→ Requires E3 with nuclear access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CRBN (cereblon):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• Imported into nucleus via KPNB1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• Proven nuclear substrate degradation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 (IKZF1, IKZF3, GSPT1)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• Intramolecular folding improves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  permeability (Poongavanam 2025)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✅ RECOMMENDED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VHL (pVHL):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• Predominantly cytoplasmic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• Requires target to shuttle to cytoplasm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• Suboptimal for nuclear HMGB2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❌ Not recommended as primary E3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Preferred ligand: Pomalidomide &gt; Lenalidomide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(better CRBN binding, different exit vector)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Root-Cause Diagnosis — Ranked by 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Why the current 6 PROTAC designs failed</a:t>
            </a:r>
          </a:p>
        </p:txBody>
      </p:sp>
      <p:pic>
        <p:nvPicPr>
          <p:cNvPr id="5" name="Picture 4" descr="plot05_root_cau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1097280"/>
            <a:ext cx="42976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864"/>
                </a:solidFill>
                <a:latin typeface="Calibri"/>
              </a:defRPr>
            </a:pPr>
            <a:r>
              <a:t>Action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459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🔴 HIGH (fix immediately):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1. Longer linkers (C10–C14, PEG-based)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2. Resolve ICM binding mode (dock + MD)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3. Design for ternary cooperativity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🟡 MEDIUM (address in parallel):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4. Measure cellular permeability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5. Check E3 expression in target line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6. Test wider concentration range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🟢 LOW (rule out last):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7. HMGB2 chromatin access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  8. HMGB2 intrinsic degradability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Note: HMGB2 has 20+ surface lysines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and is small (24 kDa) → likely degradable</a:t>
            </a:r>
          </a:p>
          <a:p>
            <a:pPr>
              <a:spcAft>
                <a:spcPts val="100"/>
              </a:spcAft>
              <a:defRPr sz="1100">
                <a:solidFill>
                  <a:srgbClr val="000000"/>
                </a:solidFill>
                <a:latin typeface="Calibri"/>
              </a:defRPr>
            </a:pPr>
            <a:r>
              <a:t>if the ternary complex can be formed.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PROTAC Redesign — Next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Evidence-based design matrix: current → proposed fix</a:t>
            </a:r>
          </a:p>
        </p:txBody>
      </p:sp>
      <p:pic>
        <p:nvPicPr>
          <p:cNvPr id="5" name="Picture 4" descr="plot07_redesig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11480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Calibri"/>
              </a:defRPr>
            </a:pPr>
            <a:r>
              <a:t>Linker Design Proposals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C10-PEG₄-amide:  ~12 Å, PEG improves solubility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C12-alkyl-triazole:  ~13 Å, semi-rigid + H-bond acceptor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C14-PEG₅:  ~16 Å, maximum span test</a:t>
            </a:r>
          </a:p>
          <a:p>
            <a:pPr>
              <a:spcAft>
                <a:spcPts val="3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C8-PEG₃-piperidine:  conformational pre-organization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4114800"/>
            <a:ext cx="5486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206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3864"/>
                </a:solidFill>
                <a:latin typeface="Calibri"/>
              </a:defRPr>
            </a:pPr>
            <a:r>
              <a:t>Validation Gates Before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1. Re-run P4ward with new designs (C10–C14 + Pomalidomide)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2. MD simulation of top ternary complex (100+ ns)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3. Lysine-to-E2~Ub distance check for viable poses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4. Permeability prediction (bRo5 chameleonic behavior)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alibri"/>
              </a:defRPr>
            </a:pPr>
            <a:r>
              <a:t>5. Only if ≥50% poses pass → proceed to synthesis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/>
              </a:defRPr>
            </a:pPr>
            <a:r>
              <a:t>Current design failed by geometry — HMGB2 degradability is NOT ruled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1. P4ward result is definitive: 0/3600 poses passed the linker distance filter.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→ The C4-equivalent linker (0.74 Å) cannot span the HMGB2–CRBN gap (min 10.83 Å).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2. HMGB2 is likely degradable — 20+ surface lysines, flexible C-tail, small size.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→ The target is not the problem. The PROTAC linker is the problem.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3. Clear redesign path exists: longer linkers (C10–C14), CRBN-based (pomalidomide),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alibri"/>
              </a:defRPr>
            </a:pPr>
            <a:r>
              <a:t>   alternative warheads (Hoechst 33258 / PDS), re-run P4ward before synthesis.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864"/>
                </a:solidFill>
                <a:latin typeface="Calibri"/>
              </a:defRPr>
            </a:pPr>
            <a:r>
              <a:t>Immediate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1. Extract reconstructed P4ward poses (hmgb2_pose_2615.pdb, crbn_pose_2615.pdb) for team inspection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2. Design C10–C14 PEG-linker PROTACs with pomalidomide (CRBN) and Hoechst 33258/PDS warheads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3. Re-run P4ward with new designs — target: &gt;50% of poses passing the linker filter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4. MD simulation of top candidate(s) — 100+ ns to verify ternary complex stability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5. If computational validation passes → synthesize top 3–5 PROTACs, test in cellular degradation assay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Evidence package location: outputs/p4ward_evidence/ (all PDBs, MOL2s, logs, plots, PyMOL scripts)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Failure is diagnostic, not terminal — the geometry failure tells us exactly what to fix.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