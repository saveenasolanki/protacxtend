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HMGB2 DEGRADATION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</a:defRPr>
            </a:pPr>
            <a:r>
              <a:t>S1: A1_4COOH Molecular Glue  +  S5: dTAG Degron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5DBDB"/>
                </a:solidFill>
              </a:defRPr>
            </a:pPr>
            <a:r>
              <a:t>Complete Computational Analysis | Structure Views |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Motto: Improve ICM → Degrade HMGB2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Parallel Strategies for HMGB2 Degradation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7200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S1: A1_4COOH Glue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S5: dTAG Degron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ICM recruits E3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FKBP12F36V tag + dTAG-13 + VHL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Uses ICM?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 - improved ICM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- genetic tag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Moderate-high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Very high (&gt;90%)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1-2 weeks assay (after 4wk synthesis)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2-3 months 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~$500 assay (+$1500 synthesis)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~$3000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Keeps motto?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Partially (drops ICM)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DECISION FRAMEWORK:</a:t>
            </a:r>
            <a:br/>
            <a:r>
              <a:t>• If S1 works (A1_4COOH alone degrades HMGB2) → motto achieved with improved ICM</a:t>
            </a:r>
            <a:br/>
            <a:r>
              <a:t>• If S1 fails → S5 guarantees degradation (control experiment, validates HMGB2 loss phenotype)</a:t>
            </a:r>
            <a:br/>
            <a:r>
              <a:t>• Run BOTH in parallel - S1 tests the ICM hypothesis, S5 provides a positive control for degradation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S1: A1_4COOH Glue - Binding Site Analysis</a:t>
            </a:r>
          </a:p>
        </p:txBody>
      </p:sp>
      <p:pic>
        <p:nvPicPr>
          <p:cNvPr id="4" name="Picture 3" descr="s1_glue_si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966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S1: The Molecular Glue Hypothesis</a:t>
            </a:r>
          </a:p>
        </p:txBody>
      </p:sp>
      <p:pic>
        <p:nvPicPr>
          <p:cNvPr id="4" name="Picture 3" descr="s1_glue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564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S1: Ubiquitination Reachability</a:t>
            </a:r>
          </a:p>
        </p:txBody>
      </p:sp>
      <p:pic>
        <p:nvPicPr>
          <p:cNvPr id="4" name="Picture 3" descr="s1_lysine_reach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400800" cy="3499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If an E3 docks at the ICM site (78-86):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• X/40 lysines within 30 Å (efficient)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• X/40 within 45 Å (moderate)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HMGB2 is small (24 kDa) and lysine-rich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→ ideal ubiquitination substrate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KEY: K85 and K82 are at the ICM site itself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→ E3 can ubiquitinate the exact residues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 that anchor A1_4COOH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S1: Computational Evidence for Glue Feasibility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144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743200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-11.22 vs -5.75 kcal/mol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Strong (Vina)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Binding confirmed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Boltz iPTM 0.70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Site is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LYS82/85/86, net 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E3 compatible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COOH neosurface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Salt bridge to LYS85 (3.04 Å)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New interface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 lysines 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All within 60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Ubiquitination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Nuclear target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HMGB2 in nucleus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Matches DCAF1/RNF114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Glue precedents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Indisulam, CR8, CDKi glues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Mechanism validated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E3 candidates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DCAF1, DCAF15, RNF114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Testable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VERDICT: S1 is FEASIBLE. The improved ICM (A1_4COOH) creates a basic neosurface at residues 78-86 that could recruit DCAF1/RNF114.</a:t>
            </a:r>
            <a:br/>
            <a:r>
              <a:t>Definitive test: cellular degradation assay ± MG132 ± E3 siRNA (1-2 weeks, ~$500).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S5: dTAG Degron Design - Structure View</a:t>
            </a:r>
          </a:p>
        </p:txBody>
      </p:sp>
      <p:pic>
        <p:nvPicPr>
          <p:cNvPr id="4" name="Picture 3" descr="s5_degron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017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S5: Degron System Comparison</a:t>
            </a:r>
          </a:p>
        </p:txBody>
      </p:sp>
      <p:pic>
        <p:nvPicPr>
          <p:cNvPr id="4" name="Picture 3" descr="s5_degron_sys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394618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9875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188720"/>
                <a:gridCol w="1371600"/>
                <a:gridCol w="365760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Tag size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Disruption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dTAG (FKBP12F36V)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kDa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RECOMMENDED - fast, reversible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AID (Auxin)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&gt;85%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 kDa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Needs TIR1 transgene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HaloTag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 kDa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Large tag, disruptive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 kDa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Hepatitis C NS3 protease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Degron peptide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 kDa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Needs fusion design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S5: CRISPR Knock-in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Design element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FKBP12F36V (12 kDa, VHL-recruiting mutant)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Insertion site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N-terminus (before MET1) - disordered tail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GGGGS (flexible, 5-10 copies)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Alternative site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C-terminus (after GLU209) - acidic flexible tail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gRNA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Targets intron/exon near ATG start codon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HDR donor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Tag + linker + homology arms (500-800 bp each)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Puromycin cassette (floxed) or FACS sorting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PCR genotyping + Western blot (anti-FKBP12 + anti-HMGB2)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&gt;90% degradation within 4-24 h of dTAG-13 addition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dTAG-13 is commercially available (Tocris, ~$200/mg). Cells: HEK293T or U2OS for rapid knock-in.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Combined Execution Plan (8 Weeks, ~$5600)</a:t>
            </a:r>
          </a:p>
        </p:txBody>
      </p:sp>
      <p:pic>
        <p:nvPicPr>
          <p:cNvPr id="4" name="Picture 3" descr="s1_s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35534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S1: Detailed Experimental Protocol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0"/>
                <a:gridCol w="2743200"/>
                <a:gridCol w="1828800"/>
              </a:tblGrid>
              <a:tr h="4963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Controls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Readout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HEK293T/U2OS, 24-well, 70% confluent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DMSO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Treatment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A1_4COOH 0.1, 0.5, 1, 5, 10 μM, 24 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ICM (parent) 10 μM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HMGB2 WB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MG132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MG132 10 μM, last 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± MG132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Proteasomal?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 E3 siRNA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DCAF1/RNF114/CRBN siRNA, 48 h pre-treat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Scrambled siRNA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E3 identity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 Readout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HMGB2 WB (GAPDH loading)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protein stain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change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 Rescue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If degraded: rescue with siRNA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Interpretation:</a:t>
            </a:r>
            <a:br/>
            <a:r>
              <a:t>• HMGB2 ↓ + MG132 rescue → proteasomal degradation</a:t>
            </a:r>
            <a:br/>
            <a:r>
              <a:t>• HMGB2 ↓ + DCAF1/RNF114 siRNA rescue → specific E3 glue</a:t>
            </a:r>
            <a:br/>
            <a:r>
              <a:t>• HMGB2 ↓ + CRBN siRNA rescue → CRBN glue (unexpected, but possible)</a:t>
            </a:r>
            <a:br/>
            <a:r>
              <a:t>• No effect → S1 fails, rely on S5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SUMMARY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S1 (A1_4COOH Molecular Glue):</a:t>
            </a:r>
            <a:br/>
            <a:r>
              <a:t>  ✓ Improved ICM binds strongly (-11.22), confirmed by Boltz (iPTM 0.70)</a:t>
            </a:r>
            <a:br/>
            <a:r>
              <a:t>  ✓ Basic neosurface at 78-86 → compatible with DCAF1/RNF114</a:t>
            </a:r>
            <a:br/>
            <a:r>
              <a:t>  ✓ 40 accessible lysines → excellent ubiquitination</a:t>
            </a:r>
            <a:br/>
            <a:r>
              <a:t>  ✓ Glue precedent: indisulam, CR8, CDKi</a:t>
            </a:r>
            <a:br/>
            <a:r>
              <a:t>  → TEST FIRST: cellular degradation ± MG132 ± E3 siRNA</a:t>
            </a:r>
            <a:br/>
            <a:br/>
            <a:r>
              <a:t>S5 (dTAG Degron):</a:t>
            </a:r>
            <a:br/>
            <a:r>
              <a:t>  ✓ Guaranteed &gt;90% HMGB2 degradation (dTAG-13 + VHL)</a:t>
            </a:r>
            <a:br/>
            <a:r>
              <a:t>  ✓ Minimal disruption (N-term insertion in disordered tail)</a:t>
            </a:r>
            <a:br/>
            <a:r>
              <a:t>  ✓ Commercially available reagents</a:t>
            </a:r>
            <a:br/>
            <a:r>
              <a:t>  → Positive control + fallback if S1 fails</a:t>
            </a:r>
            <a:br/>
            <a:br/>
            <a:r>
              <a:t>BOTH IN PARALLEL: S1 tests the ICM hypothesis; S5 guarantees the phenotype.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If S1 works: improved ICM degrades HMGB2 = MOTTO ACHIEVED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