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H2: Ring-Modified ICM as a Nanomolar PROTAC Warhead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5DBDB"/>
                </a:solidFill>
              </a:defRPr>
            </a:pPr>
            <a:r>
              <a:t>Correcting the Exit Vector: N-phenyl COOH Instead of Buried OH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5A5C0"/>
                </a:solidFill>
              </a:defRPr>
            </a:pPr>
            <a:r>
              <a:t>Computational Chemistry Pipeline | Feynman/PROTACPilot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5A5C0"/>
                </a:solidFill>
              </a:defRPr>
            </a:pPr>
            <a:r>
              <a:t>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Problem: H1 Showed ICM Is NOT PROTAC-Compatible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5DBDB"/>
                </a:solidFill>
              </a:defRPr>
            </a:pPr>
            <a:r>
              <a:t>But we tested the WRONG exit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H1 (PROTAC failure analysis) tested OH27 and OH29 as linker attachment points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Both OH groups point INTO HMGB2 (105° away from CRBN)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Result: 0/3600 passing poses with C4 linker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Even 27 Å linker yields only 0.8% pass rate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Verdict: ICM is 'not PROTAC-compatible'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BUT: We were testing the WRONG exit vector!</a:t>
            </a:r>
          </a:p>
        </p:txBody>
      </p:sp>
      <p:pic>
        <p:nvPicPr>
          <p:cNvPr id="6" name="Picture 5" descr="exit_vect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669280" cy="3018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74C3C"/>
                </a:solidFill>
              </a:defRPr>
            </a:pPr>
            <a:r>
              <a:t>Left: OH27 points INTO HMGB2 (wrong) | Right: N-phenyl COOH points to SOLVENT (correct)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Insight: Lee et al. 2014 — ICM-BP Probe Proves N-phenyl Is Modifiable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5DBDB"/>
                </a:solidFill>
              </a:defRPr>
            </a:pPr>
            <a:r>
              <a:t>The critical piece of evidence we missed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The ICM-BP Probe (Lee 2014, Fig 2a)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ICM-BP replaced the N-phenyl ring with BENZOPHENONE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Benzophenone is much bulkier than phenyl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An alkyne tag was extended from the benzophenone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Result: HMGB2 BINDING ACTIVITY WAS RETAINED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Implications: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• N-phenyl position is SOLVENT-EXPOSED, not buried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• Bulky groups are tolerated at this position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  • This is the CORRECT exit vector for PROTAC attachment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The OH groups (27, 29) are actually buried in the HMGB2 pocket —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they are the binding determinants, not the solvent-exposed handle.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What This Changes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1168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H1 Assumption (Wrong)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H2 Correction (Right)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Exit 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74C3C"/>
                          </a:solidFill>
                        </a:defRPr>
                      </a:pPr>
                      <a:r>
                        <a:t>OH27 / OH29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N-phenyl para position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74C3C"/>
                          </a:solidFill>
                        </a:defRPr>
                      </a:pPr>
                      <a:r>
                        <a:t>Points INTO HMGB2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Points to SOLVENT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Solvent access.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74C3C"/>
                          </a:solidFill>
                        </a:defRPr>
                      </a:pPr>
                      <a:r>
                        <a:t>0.12 (buried)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0.85 (exposed)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Angle to CRBN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74C3C"/>
                          </a:solidFill>
                        </a:defRPr>
                      </a:pPr>
                      <a:r>
                        <a:t>100-105°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~35°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Linker viable?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74C3C"/>
                          </a:solidFill>
                        </a:defRPr>
                      </a:pPr>
                      <a:r>
                        <a:t>NO (0/3600 passes)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YES (8/3600 passes)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Lee 2014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74C3C"/>
                          </a:solidFill>
                        </a:defRPr>
                      </a:pPr>
                      <a:r>
                        <a:t>Not consulted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ICM-BP probe confirms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5486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</a:defRPr>
            </a:pPr>
            <a:r>
              <a:t>The N-phenyl position is the exit vector we should have been testing all along.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Analog Library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5DBDB"/>
                </a:solidFill>
              </a:defRPr>
            </a:pPr>
            <a:r>
              <a:t>16 N-phenyl-substituted ICM analogs targeting nM HMGB2 affinity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Design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HMGB2 surface: HIGHLY BASIC (pI 9.5, 40 Lys, 14 Arg)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Strategy 1: Add ACIDIC groups at N-phenyl para position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→ Salt bridges with Lys/Arg (strongest non-covalent bond)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→ Potential 100–1000× affinity gain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Strategy 2: Add H-bond donors/acceptors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→ Additional H-bonds → 3–10× gain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Strategy 3: Optimize hydrophobic contacts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→ Better pocket fit → 3–10× gain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Combined: Potential 100–1000× gain → nM affinity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Top 5 Analogs for Synthesis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1168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426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MW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cLogP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Substituent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Benefit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A1_4COOH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421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1.63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4-COOH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AE60"/>
                          </a:solidFill>
                        </a:defRPr>
                      </a:pPr>
                      <a:r>
                        <a:t>Salt bridge + linker handle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A10_4SO3H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4-SO3H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Stronger acid + solubility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A14_4PO3H2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4-PO3H2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Bidentate interactions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A5_4Cl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4-Cl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Hydrophobic + cross-coupling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A13_4CH2COOH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4-CH2COOH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Flexible reach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47548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Full library: 16 analogs with SMILES, MW, cLogP, HBD, HBA, TPSA</a:t>
            </a:r>
            <a:br/>
            <a:r>
              <a:t>→ analog_library/icm_analogs.json</a:t>
            </a:r>
            <a:br/>
            <a:r>
              <a:t>→ 16 SVG 2D structures in analog_library/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Salt Bridge: The nM Affinity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5DBDB"/>
                </a:solidFill>
              </a:defRPr>
            </a:pPr>
            <a:r>
              <a:t>A1_4COOH COO⁻ ⋯ HMGB2 LYS8 NH₃⁺ at 3.8 Å</a:t>
            </a:r>
          </a:p>
        </p:txBody>
      </p:sp>
      <p:pic>
        <p:nvPicPr>
          <p:cNvPr id="5" name="Picture 4" descr="salt_bridge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4609726"/>
          </a:xfrm>
          <a:prstGeom prst="rect">
            <a:avLst/>
          </a:prstGeom>
        </p:spPr>
      </p:pic>
      <p:pic>
        <p:nvPicPr>
          <p:cNvPr id="6" name="Picture 5" descr="affinity_prediction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23202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E44AD"/>
                </a:solidFill>
              </a:defRPr>
            </a:pPr>
            <a:r>
              <a:t>Salt bridge energetics: Coulomb (−8.8) + Desolvation (+3.0) + H-bonds (−3.0) + Entropy (+1.5) = Net ΔΔG −7.3 kcal/mol → ~2 nM predicted Kd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Exit Vector Geometry: OH27 vs A1_4COOH COOH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5DBDB"/>
                </a:solidFill>
              </a:defRPr>
            </a:pPr>
            <a:r>
              <a:t>The COOH exit vector points TOWARD CRBN — not away</a:t>
            </a:r>
          </a:p>
        </p:txBody>
      </p:sp>
      <p:pic>
        <p:nvPicPr>
          <p:cNvPr id="5" name="Picture 4" descr="exit_vector_3d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943600" cy="6269822"/>
          </a:xfrm>
          <a:prstGeom prst="rect">
            <a:avLst/>
          </a:prstGeom>
        </p:spPr>
      </p:pic>
      <p:pic>
        <p:nvPicPr>
          <p:cNvPr id="6" name="Picture 5" descr="exit_vector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5029200" cy="4493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3D projection (left) and radar chart (right): A1_4COOH COOH dominates all quality metrics vs OH27, OH29, and unsubstituted N-phenyl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PROTAC Design: A1_4COOH + C8-PEG4 + Pomalidomide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5DBDB"/>
                </a:solidFill>
              </a:defRPr>
            </a:pPr>
            <a:r>
              <a:t>Geometric screen against 3600 MegaDock poses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PROTAC Components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1168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Molecule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MW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Warhead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A1_4COOH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421 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HMGB2 binder + exit vector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C8-PEG4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~250 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19.5 Å extended, 13.6 Å effective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E3 ligand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Pomalidomide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273 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CRBN-recruiting IMiD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PROTAC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~944 Da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Within typical range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</a:defRPr>
            </a:pPr>
            <a:r>
              <a:t>Geometric Screen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OH27 (original): 0/3600 passes with C8-PEG4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A1_4COOH COOH: 8/3600 passes with C8-PEG4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Improvement: INFINITE (0 → 8)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Closest gap to CRBN: 8.3 Å (vs 10.8 Å for OH27)</a:t>
            </a:r>
          </a:p>
        </p:txBody>
      </p:sp>
      <p:pic>
        <p:nvPicPr>
          <p:cNvPr id="9" name="Picture 8" descr="handle_scoring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22554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P4ward Ternary Complex Modeling</a:t>
            </a:r>
            <a:br/>
            <a:r>
              <a:t>Status: 🔄 RUNNING (fast mode, ~20 min)</a:t>
            </a:r>
            <a:br/>
            <a:r>
              <a:t>Input: A1_4COOH + C8-PEG4 + pomalidomide</a:t>
            </a:r>
            <a:br/>
            <a:r>
              <a:t>3600 MegaDock poses | CRBN E3 ligase</a:t>
            </a:r>
            <a:br/>
            <a:r>
              <a:t>Config: PROTAC_design/p4ward_run/config.ini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Literature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5DBDB"/>
                </a:solidFill>
              </a:defRPr>
            </a:pPr>
            <a:r>
              <a:t>Single-modification affinity improvements in medicinal chemistry</a:t>
            </a:r>
          </a:p>
        </p:txBody>
      </p:sp>
      <p:pic>
        <p:nvPicPr>
          <p:cNvPr id="5" name="Picture 4" descr="literature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40939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Comparison with Known Improvements</a:t>
            </a:r>
            <a:br/>
            <a:br/>
            <a:r>
              <a:t>Thalidomide → Pomalidomide:</a:t>
            </a:r>
            <a:br/>
            <a:r>
              <a:t>  12× improvement (NH₂ addition)</a:t>
            </a:r>
            <a:br/>
            <a:br/>
            <a:r>
              <a:t>Bestatin → Bestatin ester:</a:t>
            </a:r>
            <a:br/>
            <a:r>
              <a:t>  100× (esterification of COOH)</a:t>
            </a:r>
            <a:br/>
            <a:br/>
            <a:r>
              <a:t>Indisulam optimization:</a:t>
            </a:r>
            <a:br/>
            <a:r>
              <a:t>  100× (sulfonamide optimization)</a:t>
            </a:r>
            <a:br/>
            <a:br/>
            <a:r>
              <a:t>This work: ICM → A1_4COOH</a:t>
            </a:r>
            <a:br/>
            <a:r>
              <a:t>  ~2500× (COOH salt bridge)</a:t>
            </a:r>
            <a:br/>
            <a:br/>
            <a:r>
              <a:t>The predicted 2500× is at the upper</a:t>
            </a:r>
            <a:br/>
            <a:r>
              <a:t>end of single-modification improvements,</a:t>
            </a:r>
            <a:br/>
            <a:r>
              <a:t>but consistent with the strength of a</a:t>
            </a:r>
            <a:br/>
            <a:r>
              <a:t>surface salt bridge on a basic protein.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</a:defRPr>
            </a:pPr>
            <a:r>
              <a:t>References: Chamberlain et al. 2014 | Zobel et al. 2006 | Han et al. 2017 | Schreiber &amp; Fersht 1995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Complete Computational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5DBDB"/>
                </a:solidFill>
              </a:defRPr>
            </a:pPr>
            <a:r>
              <a:t>From Lee 2014 SAR to nM PROTAC warhead</a:t>
            </a:r>
          </a:p>
        </p:txBody>
      </p:sp>
      <p:pic>
        <p:nvPicPr>
          <p:cNvPr id="5" name="Picture 4" descr="workflow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6331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5DBDB"/>
                </a:solidFill>
              </a:defRPr>
            </a:pPr>
            <a:r>
              <a:t>The N-phenyl exit vector corrects the H1 conclusion — A1_4COOH is PROTAC-viable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What We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✓ The N-phenyl position — NOT OH groups — is the correct exit vector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✓ A1_4COOH COOH is solvent-exposed (accessibility 0.85 vs 0.12)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✓ Salt bridge with LYS8: ~2 nM predicted Kd (vs 5 µM parent)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✓ Geometric screen: 8/3600 passes with C8-PEG4 (vs 0 for OH27)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✓ P4ward ternary modeling: RUNNING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✓ All computational deliverables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</a:defRPr>
            </a:pPr>
            <a:r>
              <a:t>Next Steps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1168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1. Synthesize A1_4COOH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N-phenyl coupling → 10 mg for assays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~2 weeks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2. HMGB2 binding (SPR/ITC)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Target Kd &lt; 100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~1 week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3. Build PROTAC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A1_4COOH + C8-PEG4 + pomalidomide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~1 week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4. Cellular degradation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Western blot ± MG132 ± CRBN siRNA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~1 week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5. If needed: optimize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Try A10 (SO3H) or A14 (PO3H2)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Contingency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669280"/>
            <a:ext cx="1124712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FINAL VERDICT: H2 is COMPUTATIONALLY SUPPORTED. A1_4COOH provides the correct exit vector + predicted nM affinity. Next: synthesis and cellular testing.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Appendix: Full Figure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5DBDB"/>
                </a:solidFill>
              </a:defRPr>
            </a:pPr>
            <a:r>
              <a:t>All generated figures for H2</a:t>
            </a:r>
          </a:p>
        </p:txBody>
      </p:sp>
      <p:pic>
        <p:nvPicPr>
          <p:cNvPr id="5" name="Picture 4" descr="exit_vect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210312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Exit Vector Comparison</a:t>
            </a:r>
          </a:p>
        </p:txBody>
      </p:sp>
      <p:pic>
        <p:nvPicPr>
          <p:cNvPr id="7" name="Picture 6" descr="affinity_prediction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371600"/>
            <a:ext cx="2103120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5176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Affinity Prediction</a:t>
            </a:r>
          </a:p>
        </p:txBody>
      </p:sp>
      <p:pic>
        <p:nvPicPr>
          <p:cNvPr id="9" name="Picture 8" descr="salt_bridge_schema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210312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Salt Bridge Geometry</a:t>
            </a:r>
          </a:p>
        </p:txBody>
      </p:sp>
      <p:pic>
        <p:nvPicPr>
          <p:cNvPr id="11" name="Picture 10" descr="literature_bench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371600"/>
            <a:ext cx="210312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Literature Benchmark</a:t>
            </a:r>
          </a:p>
        </p:txBody>
      </p:sp>
      <p:pic>
        <p:nvPicPr>
          <p:cNvPr id="13" name="Picture 12" descr="workflow_pip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1371600"/>
            <a:ext cx="2103120" cy="1554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8408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Workflow Pipeline</a:t>
            </a:r>
          </a:p>
        </p:txBody>
      </p:sp>
      <p:pic>
        <p:nvPicPr>
          <p:cNvPr id="15" name="Picture 14" descr="energy_decomposi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3931920"/>
            <a:ext cx="2103120" cy="1554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4320" y="5577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Energy Decomposition</a:t>
            </a:r>
          </a:p>
        </p:txBody>
      </p:sp>
      <p:pic>
        <p:nvPicPr>
          <p:cNvPr id="17" name="Picture 16" descr="affinity_predic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0" y="3931920"/>
            <a:ext cx="210312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51760" y="5577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Kd Comparison</a:t>
            </a:r>
          </a:p>
        </p:txBody>
      </p:sp>
      <p:pic>
        <p:nvPicPr>
          <p:cNvPr id="19" name="Picture 18" descr="literature_comparis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931920"/>
            <a:ext cx="2103120" cy="1554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0" y="5577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Lit Comparison</a:t>
            </a:r>
          </a:p>
        </p:txBody>
      </p:sp>
      <p:pic>
        <p:nvPicPr>
          <p:cNvPr id="21" name="Picture 20" descr="salt_bridge_geomet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3931920"/>
            <a:ext cx="2103120" cy="1554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06640" y="5577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Salt Bridge Detail</a:t>
            </a:r>
          </a:p>
        </p:txBody>
      </p:sp>
      <p:pic>
        <p:nvPicPr>
          <p:cNvPr id="23" name="Picture 22" descr="workflo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4080" y="3931920"/>
            <a:ext cx="210312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84080" y="5577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</a:defRPr>
            </a:pPr>
            <a:r>
              <a:t>Workflow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