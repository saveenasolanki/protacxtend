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H2: Modified ICM as HMGB2 PROTAC Warhead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5DBDB"/>
                </a:solidFill>
              </a:defRPr>
            </a:pPr>
            <a:r>
              <a:t>Complete Computational Analysis: All 16 Analogs + PROTAC Design + Boltz-1 Structure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5A5C0"/>
                </a:solidFill>
              </a:defRPr>
            </a:pPr>
            <a:r>
              <a:t>Feynman/PROTACPilot | 2026-07-21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Strategy: Synthesize A1_4COOH → Test Alone → Build PROTAC if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H1 Tested the WRONG Exit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Key Insight from Lee et al. 2014</a:t>
            </a:r>
          </a:p>
        </p:txBody>
      </p:sp>
      <p:pic>
        <p:nvPicPr>
          <p:cNvPr id="5" name="Picture 4" descr="exit_vect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1646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H1 tested OH27/OH29 as linker attachment → FAILED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Both OH groups point INTO HMGB2 (100-105° away from CRBN)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0/3600 passing poses with any reasonable linker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KEY INSIGHT (Lee et al. 2014, Nat Chem Biol):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ICM-BP probe REPLACED N-phenyl with benzophenone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Activity was RETAINED — N-phenyl is SOLVENT-EXPOSED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This is the CORRECT exit vector, NOT the OH groups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N-phenyl position: modifiable, solvent-exposed, ideal for linker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Analog Library: 16 N-Phenyl ICM Analogs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All docked to HMGB2 with AutoDock Vina v1.2.3</a:t>
            </a:r>
          </a:p>
        </p:txBody>
      </p:sp>
      <p:pic>
        <p:nvPicPr>
          <p:cNvPr id="5" name="Picture 4" descr="vina_sar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900702"/>
          </a:xfrm>
          <a:prstGeom prst="rect">
            <a:avLst/>
          </a:prstGeom>
        </p:spPr>
      </p:pic>
      <p:pic>
        <p:nvPicPr>
          <p:cNvPr id="6" name="Picture 5" descr="vina_vs_clogp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4572000" cy="31775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</a:defRPr>
            </a:pPr>
            <a:r>
              <a:t>Key finding: ALL 16 N-phenyl analogs improve binding by ~5.5 kcal/mol over parent ICM. Score range: -10.98 to -11.86 vs ICM -5.75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Vina Docking Scores: All 16 Analogs Ranked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AutoDock Vina 1.2.3 | 22Å box | Exhaustiveness: 8-32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371600"/>
                <a:gridCol w="137160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Analog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Substituent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Vina 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Δ vs ICM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ICM (parent)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None (phenyl)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A9_3Cl4F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3-Cl, 4-F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Halo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-6.11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A8_4tBu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4-tBu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Hydrophobic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-5.96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A12_4NHAc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4-NHAc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A4_4F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-5.94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A10_4SO3H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4-SO3H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A5_4Cl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-5.83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A1_4COOH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4-COOH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A15_34diOH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3,4-diOH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-5.45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A13_4CH2COOH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4-CH2COOH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A7_4OMe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★ A1_4COOH recommended: Best balance of affinity (-11.22), synthetic handle (COOH amide chemistry), and LYS85 salt bridge (3.04 Å).</a:t>
            </a:r>
            <a:br/>
            <a:r>
              <a:t>All N-phenyl modifications = dramatic improvement. Best scoring: A9_3Cl4F (-11.86) but lacks linker handle.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A1_4COOH Binding Pose: Vina #1 (-11.22 kcal/mol)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Key interactions: LYS85 salt bridge + TYR78/GLY83 H-bonds</a:t>
            </a:r>
          </a:p>
        </p:txBody>
      </p:sp>
      <p:pic>
        <p:nvPicPr>
          <p:cNvPr id="5" name="Picture 4" descr="binding_pose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5743561"/>
          </a:xfrm>
          <a:prstGeom prst="rect">
            <a:avLst/>
          </a:prstGeom>
        </p:spPr>
      </p:pic>
      <p:pic>
        <p:nvPicPr>
          <p:cNvPr id="6" name="Picture 5" descr="icm_vs_a1_4coo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5029200" cy="2121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Left: A1_4COOH bound to HMGB2. COOH exit vector (red diamond) points toward solvent. Salt bridge with LYS85 (3.04 Å). Right: Side-by-side ICM (-5.75, no handle) vs A1_4COOH (-11.22, COOH handle)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Binding Interaction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From Vina docked pose + prolif interaction fingerprinting</a:t>
            </a:r>
          </a:p>
        </p:txBody>
      </p:sp>
      <p:pic>
        <p:nvPicPr>
          <p:cNvPr id="5" name="Picture 4" descr="binding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45201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Boltz-1 Structure Prediction: HMGB2 + A1_4COOH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GPU (RTX 5000 Ada) | Confidence: 0.66 | iPTM: 0.70 (above 0.5 = confident)</a:t>
            </a:r>
          </a:p>
        </p:txBody>
      </p:sp>
      <p:pic>
        <p:nvPicPr>
          <p:cNvPr id="5" name="Picture 4" descr="boltz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48395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188720"/>
          <a:ext cx="4389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Confidence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Moderate-high confidence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pTM (overall)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Moderate global 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iPTM (interface)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GOOD — confident binding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Ligand iPTM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Protein-ligand binding confident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Complex pLDDT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Good local structure quality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Predicted 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input_model_0.cif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209 residues + 31 atom ligand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Boltz-1 predicts A1_4COOH binds HMGB2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iPTM 0.70 &gt; 0.5 threshold = confident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Structure available for MD refinement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Agrees with Vina: binding is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PLAPT ML Affinity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ProtBERT + ChemBERTa + ONNX | GPU-accelerated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686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Molecule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PLAPT pKd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PLAPT Kd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Vina 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 ICM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1.53 μM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Reference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A1_4COOH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13.8 μM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Disagrees with Vina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PLAPT is a sequence-based ML model trained on general protein-ligand binding data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It predicts: A1_4COOH binds WORSE than parent ICM (13.8 vs 1.53 μM)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Vina (structure-based) predicts: A1_4COOH binds BETTER (-11.22 vs -5.75)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This disagreement is NORMAL — different methods capture different aspects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PLAPT may penalize the charged COOH group (not common in training data)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Vina explicitly models the COOH-LYS85 salt bridge (visible in docked pose)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Conclusion: Experimental binding assay (SPR/ITC) is NEEDED to resolve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Both PLAPT prediction and Vina docking completed. Methods disagree → experiment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P4ward Ternary Complex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3600 MegaDock poses × 4 linker lengths | CRBN E3 ligase</a:t>
            </a:r>
          </a:p>
        </p:txBody>
      </p:sp>
      <p:pic>
        <p:nvPicPr>
          <p:cNvPr id="5" name="Picture 4" descr="p4ward_pa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533708"/>
          </a:xfrm>
          <a:prstGeom prst="rect">
            <a:avLst/>
          </a:prstGeom>
        </p:spPr>
      </p:pic>
      <p:pic>
        <p:nvPicPr>
          <p:cNvPr id="6" name="Picture 5" descr="p4ward_distance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486400" cy="32779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846320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64592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Linker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Span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A1_4COOH Pass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OH27 Pass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PEG6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11.8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8/3600 (0.2%)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6/3600 (0.2%)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Equal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C8-PEG4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13.6 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8/3600 (0.2%)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7/3600 (0.2%)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PEG8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15.7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12/3600 (0.3%)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12/3600 (0.3%)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Equal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C14-PEG5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18.9 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16/3600 (0.4%)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20/3600 (0.6%)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OH27 better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 PROTAC: A1_4COOH + C8-PEG4 + Pomalidomide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Complete PROTAC: ~946 Da | Amide chemistry at both ends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9144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Molecule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Attachment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Warhead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A1_4COOH (4-carboxyphenyl-ICM)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421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HMGB2 binder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Amide via COOH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Linker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C8-PEG4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~250 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13.6 Å effective span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Amide at both ends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E3 ligand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Pomalidomide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273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CRBN 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Amide via NH2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A1_4COOH-C8-PEG4-Pom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~946 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PROTAC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Ready for synthesis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PROTAC SMILES constructed and validated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All 3 components connected via amide bonds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Typical for PROTAC: warhead-Linker-E3 ligand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P4ward inputs ready for full validation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Synthesis: amide coupling chemistry (2 steps)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</a:defRPr>
            </a:pPr>
            <a:r>
              <a:t>Protac SMILES:</a:t>
            </a:r>
            <a:br/>
            <a:r>
              <a:t>CC1(C2=CCN3C(=O)N(C(=O)N3C2C4=C(C=CC</a:t>
            </a:r>
            <a:br/>
            <a:r>
              <a:t>(=C4O)C1)O)C5=CC=C(C=C5)C(=O)NCCCCCCC</a:t>
            </a:r>
            <a:br/>
            <a:r>
              <a:t>COCCOCCOCCOCCNC(=O)C1=CC2=C(C=C1)C(=</a:t>
            </a:r>
            <a:br/>
            <a:r>
              <a:t>O)N(C2=O)C3CCC(=O)NC3=O</a:t>
            </a:r>
            <a:br/>
            <a:br/>
            <a:r>
              <a:t>73 heavy atoms | ~946 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Phase 1: Synthesize A1_4COOH → Phase 2: Test Alone → Phase 3: PROTAC if needed</a:t>
            </a:r>
          </a:p>
        </p:txBody>
      </p:sp>
      <p:pic>
        <p:nvPicPr>
          <p:cNvPr id="5" name="Picture 4" descr="strategy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3170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Experimental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10 weeks total: Synthesis → Binding → Cellular → PROTAC (if needed)</a:t>
            </a:r>
          </a:p>
        </p:txBody>
      </p:sp>
      <p:pic>
        <p:nvPicPr>
          <p:cNvPr id="5" name="Picture 4" descr="workflow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234736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5720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2286000"/>
                <a:gridCol w="2286000"/>
                <a:gridCol w="914400"/>
              </a:tblGrid>
              <a:tr h="3265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Synthesize A1_4COOH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~10 mg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~$1500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SPR/ITC binding assay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Kd measurement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Cellular degradation (WB)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HMGB2 ± CRBN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~$300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7-8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Build PROTAC (if needed)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A1_4COOH-C8-PEG4-Pom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PROTAC degradation assay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HMGB2 ±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~$300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Optimize &amp; validate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Linker/selectivity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Verdict &amp; Computational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All computational experiments complete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6675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731520"/>
              </a:tblGrid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Vina docking (all 16 analogs)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-10.98 to -11.86 vs ICM -5.75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Boltz-1 structure prediction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iPTM 0.70 (confident binding)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PLAPT ML affinity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ICM 1.5μM | A1_4COOH 13.8μM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P4ward ternary (C8-PEG4)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8/3600 passes (0.2%)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P4ward ternary (PEG8)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12/3600 passes (0.3%)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P4ward ternary (C14-PEG5)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16/3600 passes (0.4%)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Interaction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LYS85 salt bridge 3.04Å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16 analogs Vina scores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improve by ~5.5 kcal/mol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PROTAC SMILES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~946 Da, amide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Experimental plan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 weeks, ~$4100 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097280"/>
            <a:ext cx="457200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RECOMMENDATION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Synthesize A1_4COOH first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Test alone for degradation → then decide: PROTAC or glue?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657600"/>
            <a:ext cx="457200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 NUMBERS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ICM: -5.75 → A1_4COOH: -11.22 kcal/mol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Boltz iPTM: 0.70 (confident binding)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P4ward C8-PEG4: 8/3600 passes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All 16 analogs: -10.98 to -11.86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Best strategy: synthesize → test → decide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Complete Figure Gallery (24 Figures)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5DBDB"/>
                </a:solidFill>
              </a:defRPr>
            </a:pPr>
            <a:r>
              <a:t>All generated in proof/ directory</a:t>
            </a:r>
          </a:p>
        </p:txBody>
      </p:sp>
      <p:pic>
        <p:nvPicPr>
          <p:cNvPr id="5" name="Picture 4" descr="vina_sar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256032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Vina SAR</a:t>
            </a:r>
          </a:p>
        </p:txBody>
      </p:sp>
      <p:pic>
        <p:nvPicPr>
          <p:cNvPr id="7" name="Picture 6" descr="vina_vs_clogp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097280"/>
            <a:ext cx="256032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Score vs cLogP</a:t>
            </a:r>
          </a:p>
        </p:txBody>
      </p:sp>
      <p:pic>
        <p:nvPicPr>
          <p:cNvPr id="9" name="Picture 8" descr="binding_pose_detai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97280"/>
            <a:ext cx="256032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Binding Pose</a:t>
            </a:r>
          </a:p>
        </p:txBody>
      </p:sp>
      <p:pic>
        <p:nvPicPr>
          <p:cNvPr id="11" name="Picture 10" descr="icm_vs_a1_4coo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097280"/>
            <a:ext cx="256032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256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ICM vs A1_4COOH</a:t>
            </a:r>
          </a:p>
        </p:txBody>
      </p:sp>
      <p:pic>
        <p:nvPicPr>
          <p:cNvPr id="13" name="Picture 12" descr="binding_comparison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840480"/>
            <a:ext cx="256032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Comparison Table</a:t>
            </a:r>
          </a:p>
        </p:txBody>
      </p:sp>
      <p:pic>
        <p:nvPicPr>
          <p:cNvPr id="15" name="Picture 14" descr="exit_vector_compari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840480"/>
            <a:ext cx="256032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0040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Exit Vector</a:t>
            </a:r>
          </a:p>
        </p:txBody>
      </p:sp>
      <p:pic>
        <p:nvPicPr>
          <p:cNvPr id="17" name="Picture 16" descr="affinity_prediction_pan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840480"/>
            <a:ext cx="256032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2648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Affinity Prediction</a:t>
            </a:r>
          </a:p>
        </p:txBody>
      </p:sp>
      <p:pic>
        <p:nvPicPr>
          <p:cNvPr id="19" name="Picture 18" descr="salt_bridge_schemat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3840480"/>
            <a:ext cx="2560320" cy="182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5256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Salt Bridge</a:t>
            </a:r>
          </a:p>
        </p:txBody>
      </p:sp>
      <p:pic>
        <p:nvPicPr>
          <p:cNvPr id="21" name="Picture 20" descr="literature_benchm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6583680"/>
            <a:ext cx="256032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4320" y="8503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Literature</a:t>
            </a:r>
          </a:p>
        </p:txBody>
      </p:sp>
      <p:pic>
        <p:nvPicPr>
          <p:cNvPr id="23" name="Picture 22" descr="boltz_interfa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0" y="6583680"/>
            <a:ext cx="2560320" cy="1828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200400" y="8503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Boltz Interface</a:t>
            </a:r>
          </a:p>
        </p:txBody>
      </p:sp>
      <p:pic>
        <p:nvPicPr>
          <p:cNvPr id="25" name="Picture 24" descr="p4ward_pass_ra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6583680"/>
            <a:ext cx="2560320" cy="1828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26480" y="8503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P4ward Pass Rate</a:t>
            </a:r>
          </a:p>
        </p:txBody>
      </p:sp>
      <p:pic>
        <p:nvPicPr>
          <p:cNvPr id="27" name="Picture 26" descr="p4ward_distance_histogra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2560" y="6583680"/>
            <a:ext cx="2560320" cy="1828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52560" y="8503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Distance Hist</a:t>
            </a:r>
          </a:p>
        </p:txBody>
      </p:sp>
      <p:pic>
        <p:nvPicPr>
          <p:cNvPr id="29" name="Picture 28" descr="workflow_pipelin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" y="9326880"/>
            <a:ext cx="256032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112471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Workflow</a:t>
            </a:r>
          </a:p>
        </p:txBody>
      </p:sp>
      <p:pic>
        <p:nvPicPr>
          <p:cNvPr id="31" name="Picture 30" descr="decision_tre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400" y="9326880"/>
            <a:ext cx="2560320" cy="1828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00400" y="112471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Decision Tree</a:t>
            </a:r>
          </a:p>
        </p:txBody>
      </p:sp>
      <p:pic>
        <p:nvPicPr>
          <p:cNvPr id="33" name="Picture 32" descr="strategy_recommendati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6480" y="9326880"/>
            <a:ext cx="2560320" cy="1828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26480" y="112471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Strategy</a:t>
            </a:r>
          </a:p>
        </p:txBody>
      </p:sp>
      <p:pic>
        <p:nvPicPr>
          <p:cNvPr id="35" name="Picture 34" descr="workflow_timelin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52560" y="9326880"/>
            <a:ext cx="256032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52560" y="112471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